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tags/tag6.xml" ContentType="application/vnd.openxmlformats-officedocument.presentationml.tags+xml"/>
  <Override PartName="/ppt/notesSlides/notesSlide5.xml" ContentType="application/vnd.openxmlformats-officedocument.presentationml.notesSlide+xml"/>
  <Override PartName="/ppt/tags/tag7.xml" ContentType="application/vnd.openxmlformats-officedocument.presentationml.tags+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
  </p:notesMasterIdLst>
  <p:sldIdLst>
    <p:sldId id="258" r:id="rId2"/>
    <p:sldId id="260" r:id="rId3"/>
    <p:sldId id="261" r:id="rId4"/>
    <p:sldId id="267" r:id="rId5"/>
    <p:sldId id="263" r:id="rId6"/>
    <p:sldId id="265" r:id="rId7"/>
  </p:sldIdLst>
  <p:sldSz cx="12192000" cy="6858000"/>
  <p:notesSz cx="6858000" cy="9144000"/>
  <p:custDataLst>
    <p:tags r:id="rId9"/>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54" autoAdjust="0"/>
    <p:restoredTop sz="65738" autoAdjust="0"/>
  </p:normalViewPr>
  <p:slideViewPr>
    <p:cSldViewPr snapToGrid="0">
      <p:cViewPr varScale="1">
        <p:scale>
          <a:sx n="72" d="100"/>
          <a:sy n="72" d="100"/>
        </p:scale>
        <p:origin x="3552" y="78"/>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tags" Target="tags/tag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5C20BB3-3CCB-4FE5-991B-82F6BCB48AF3}" type="datetimeFigureOut">
              <a:rPr lang="en-US" smtClean="0"/>
              <a:t>10/18/2026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0746DE6-3336-457D-A091-FA20AC1C536E}" type="slidenum">
              <a:rPr lang="en-US" smtClean="0"/>
              <a:t>‹#›</a:t>
            </a:fld>
            <a:endParaRPr lang="en-US"/>
          </a:p>
        </p:txBody>
      </p:sp>
    </p:spTree>
    <p:extLst>
      <p:ext uri="{BB962C8B-B14F-4D97-AF65-F5344CB8AC3E}">
        <p14:creationId xmlns:p14="http://schemas.microsoft.com/office/powerpoint/2010/main" val="8562944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a:t>
            </a:r>
            <a:r>
              <a:rPr lang="en-US" baseline="0" dirty="0"/>
              <a:t> speaker notes required for this slide.]</a:t>
            </a:r>
            <a:endParaRPr lang="en-US" dirty="0"/>
          </a:p>
        </p:txBody>
      </p:sp>
      <p:sp>
        <p:nvSpPr>
          <p:cNvPr id="4" name="Slide Number Placeholder 3"/>
          <p:cNvSpPr>
            <a:spLocks noGrp="1"/>
          </p:cNvSpPr>
          <p:nvPr>
            <p:ph type="sldNum" sz="quarter" idx="10"/>
          </p:nvPr>
        </p:nvSpPr>
        <p:spPr/>
        <p:txBody>
          <a:bodyPr/>
          <a:lstStyle/>
          <a:p>
            <a:fld id="{E0746DE6-3336-457D-A091-FA20AC1C536E}" type="slidenum">
              <a:rPr lang="en-US" smtClean="0"/>
              <a:t>1</a:t>
            </a:fld>
            <a:endParaRPr lang="en-US"/>
          </a:p>
        </p:txBody>
      </p:sp>
    </p:spTree>
    <p:extLst>
      <p:ext uri="{BB962C8B-B14F-4D97-AF65-F5344CB8AC3E}">
        <p14:creationId xmlns:p14="http://schemas.microsoft.com/office/powerpoint/2010/main" val="42162425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To make sure this software helps the driving school run smoothly, the focus was: what the platform does for you, and how well it runs. On the operational side, your students will be able to log in at any time to book, change, or cancel a driving lesson without needing to call the office. The driving instructors can also log in from their phones to check their daily routes and leave quick notes on how a student performed. Behind the scenes, we are making sure the site is fast, so clients don’t get frustrated and walk away, and we are putting safety locks on the system, so all personal information and payments stay safe and private.</a:t>
            </a:r>
          </a:p>
          <a:p>
            <a:endParaRPr lang="en-US" dirty="0"/>
          </a:p>
        </p:txBody>
      </p:sp>
      <p:sp>
        <p:nvSpPr>
          <p:cNvPr id="4" name="Slide Number Placeholder 3"/>
          <p:cNvSpPr>
            <a:spLocks noGrp="1"/>
          </p:cNvSpPr>
          <p:nvPr>
            <p:ph type="sldNum" sz="quarter" idx="10"/>
          </p:nvPr>
        </p:nvSpPr>
        <p:spPr/>
        <p:txBody>
          <a:bodyPr/>
          <a:lstStyle/>
          <a:p>
            <a:fld id="{E0746DE6-3336-457D-A091-FA20AC1C536E}" type="slidenum">
              <a:rPr lang="en-US" smtClean="0"/>
              <a:t>2</a:t>
            </a:fld>
            <a:endParaRPr lang="en-US"/>
          </a:p>
        </p:txBody>
      </p:sp>
    </p:spTree>
    <p:extLst>
      <p:ext uri="{BB962C8B-B14F-4D97-AF65-F5344CB8AC3E}">
        <p14:creationId xmlns:p14="http://schemas.microsoft.com/office/powerpoint/2010/main" val="3399264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maps out who will be using your new platform every day and what they can do on it. We have divided the system's users into three main groups: the students, the driving instructors, and the front-office staff. For your students, the process is simple. They can hop online, set up a profile, look over the driving package deals, and pick an open slot for their behind-the-wheel training. The instructors can look at their smartphones to see who they are training that day and leave feedback notes right after the lesson. Finally, the office staff have a view of everything, allowing them to handle scheduling changes and process incoming payments all in one spot.</a:t>
            </a:r>
          </a:p>
        </p:txBody>
      </p:sp>
      <p:sp>
        <p:nvSpPr>
          <p:cNvPr id="4" name="Slide Number Placeholder 3"/>
          <p:cNvSpPr>
            <a:spLocks noGrp="1"/>
          </p:cNvSpPr>
          <p:nvPr>
            <p:ph type="sldNum" sz="quarter" idx="10"/>
          </p:nvPr>
        </p:nvSpPr>
        <p:spPr/>
        <p:txBody>
          <a:bodyPr/>
          <a:lstStyle/>
          <a:p>
            <a:fld id="{E0746DE6-3336-457D-A091-FA20AC1C536E}" type="slidenum">
              <a:rPr lang="en-US" smtClean="0"/>
              <a:t>3</a:t>
            </a:fld>
            <a:endParaRPr lang="en-US"/>
          </a:p>
        </p:txBody>
      </p:sp>
    </p:spTree>
    <p:extLst>
      <p:ext uri="{BB962C8B-B14F-4D97-AF65-F5344CB8AC3E}">
        <p14:creationId xmlns:p14="http://schemas.microsoft.com/office/powerpoint/2010/main" val="22628351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slide shows the step-by-step path a user takes when completing a task. Let's look at booking a driving lesson as an example. When a student wants to schedule an appointment, they pick their preferred day and time. The platform scans the instructors' calendars. If an instructor is free, the system claims that slot, alerts both the student and the teacher, and locks it in. If that instructor is already booked, the platform prevents a double-booking error from happening and asks the student to choose a different time. This makes sure the schedule stays organized without any scheduling mix-ups.</a:t>
            </a:r>
          </a:p>
        </p:txBody>
      </p:sp>
      <p:sp>
        <p:nvSpPr>
          <p:cNvPr id="4" name="Slide Number Placeholder 3"/>
          <p:cNvSpPr>
            <a:spLocks noGrp="1"/>
          </p:cNvSpPr>
          <p:nvPr>
            <p:ph type="sldNum" sz="quarter" idx="10"/>
          </p:nvPr>
        </p:nvSpPr>
        <p:spPr/>
        <p:txBody>
          <a:bodyPr/>
          <a:lstStyle/>
          <a:p>
            <a:fld id="{E0746DE6-3336-457D-A091-FA20AC1C536E}" type="slidenum">
              <a:rPr lang="en-US" smtClean="0"/>
              <a:t>4</a:t>
            </a:fld>
            <a:endParaRPr lang="en-US"/>
          </a:p>
        </p:txBody>
      </p:sp>
    </p:spTree>
    <p:extLst>
      <p:ext uri="{BB962C8B-B14F-4D97-AF65-F5344CB8AC3E}">
        <p14:creationId xmlns:p14="http://schemas.microsoft.com/office/powerpoint/2010/main" val="8961842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u="none" strike="noStrike" kern="1200" dirty="0">
                <a:solidFill>
                  <a:schemeClr val="tx1"/>
                </a:solidFill>
                <a:effectLst/>
                <a:latin typeface="+mn-lt"/>
                <a:ea typeface="+mn-ea"/>
                <a:cs typeface="+mn-cs"/>
              </a:rPr>
              <a:t>Keeping the business and the customers safe is the top priority, so we built strong safety measures into every layer of this system. All personal student data, like phone numbers and home addresses, is properly secured. Everyone gets their own secure login account. This means students can only see their own lessons, instructors can only see their assigned students, and the financial data stays private to the admin team. We also make sure that when people pay for driving packages online, their card information goes through secure digital locks. This protects your business from fraud and gives your clients peace of mind.</a:t>
            </a:r>
          </a:p>
        </p:txBody>
      </p:sp>
      <p:sp>
        <p:nvSpPr>
          <p:cNvPr id="4" name="Slide Number Placeholder 3"/>
          <p:cNvSpPr>
            <a:spLocks noGrp="1"/>
          </p:cNvSpPr>
          <p:nvPr>
            <p:ph type="sldNum" sz="quarter" idx="10"/>
          </p:nvPr>
        </p:nvSpPr>
        <p:spPr/>
        <p:txBody>
          <a:bodyPr/>
          <a:lstStyle/>
          <a:p>
            <a:fld id="{E0746DE6-3336-457D-A091-FA20AC1C536E}" type="slidenum">
              <a:rPr lang="en-US" smtClean="0"/>
              <a:t>5</a:t>
            </a:fld>
            <a:endParaRPr lang="en-US"/>
          </a:p>
        </p:txBody>
      </p:sp>
    </p:spTree>
    <p:extLst>
      <p:ext uri="{BB962C8B-B14F-4D97-AF65-F5344CB8AC3E}">
        <p14:creationId xmlns:p14="http://schemas.microsoft.com/office/powerpoint/2010/main" val="34916115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u="none" strike="noStrike" kern="1200" dirty="0">
                <a:solidFill>
                  <a:schemeClr val="tx1"/>
                </a:solidFill>
                <a:effectLst/>
                <a:latin typeface="+mn-lt"/>
                <a:ea typeface="+mn-ea"/>
                <a:cs typeface="+mn-cs"/>
              </a:rPr>
              <a:t>Because this is a live web platform, the staff, instructors, and students need an active internet connection to see or change the calendar. Also, while instructors can view their driving routes on their phones, the platform does not feature live, automated traffic updates. It also does not track physical car maintenance, like when a vehicle needs an oil change or gas. Knowing these boundaries helps plan ahead for future updates as the driving school grows.</a:t>
            </a:r>
          </a:p>
        </p:txBody>
      </p:sp>
      <p:sp>
        <p:nvSpPr>
          <p:cNvPr id="4" name="Slide Number Placeholder 3"/>
          <p:cNvSpPr>
            <a:spLocks noGrp="1"/>
          </p:cNvSpPr>
          <p:nvPr>
            <p:ph type="sldNum" sz="quarter" idx="10"/>
          </p:nvPr>
        </p:nvSpPr>
        <p:spPr/>
        <p:txBody>
          <a:bodyPr/>
          <a:lstStyle/>
          <a:p>
            <a:fld id="{E0746DE6-3336-457D-A091-FA20AC1C536E}" type="slidenum">
              <a:rPr lang="en-US" smtClean="0"/>
              <a:t>6</a:t>
            </a:fld>
            <a:endParaRPr lang="en-US"/>
          </a:p>
        </p:txBody>
      </p:sp>
    </p:spTree>
    <p:extLst>
      <p:ext uri="{BB962C8B-B14F-4D97-AF65-F5344CB8AC3E}">
        <p14:creationId xmlns:p14="http://schemas.microsoft.com/office/powerpoint/2010/main" val="9706606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0391AB-F383-4237-A071-AD1C6E9246D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F6636DA-4FDE-4B32-8CCE-37EFA3E7579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0F87932-8FF0-4DF1-A776-9A3CE37618A7}"/>
              </a:ext>
            </a:extLst>
          </p:cNvPr>
          <p:cNvSpPr>
            <a:spLocks noGrp="1"/>
          </p:cNvSpPr>
          <p:nvPr>
            <p:ph type="dt" sz="half" idx="10"/>
          </p:nvPr>
        </p:nvSpPr>
        <p:spPr/>
        <p:txBody>
          <a:bodyPr/>
          <a:lstStyle/>
          <a:p>
            <a:fld id="{5D6495F3-B757-4FAF-98AA-EDA7D1485485}" type="datetimeFigureOut">
              <a:rPr lang="en-US" smtClean="0"/>
              <a:t>10/18/2026</a:t>
            </a:fld>
            <a:endParaRPr lang="en-US"/>
          </a:p>
        </p:txBody>
      </p:sp>
      <p:sp>
        <p:nvSpPr>
          <p:cNvPr id="5" name="Footer Placeholder 4">
            <a:extLst>
              <a:ext uri="{FF2B5EF4-FFF2-40B4-BE49-F238E27FC236}">
                <a16:creationId xmlns:a16="http://schemas.microsoft.com/office/drawing/2014/main" id="{5F38FAB8-C9F1-4DBB-B355-D8DEE370657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4490E3-D8E8-4766-9104-14009BF5636F}"/>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34569019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CBC967-18DB-4664-9B4D-06177FB946B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ADF7174-64B4-4D8F-BF44-3DD1F66CAD0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5CD83D3-86C4-482F-A2DC-B4C55DBF3F7A}"/>
              </a:ext>
            </a:extLst>
          </p:cNvPr>
          <p:cNvSpPr>
            <a:spLocks noGrp="1"/>
          </p:cNvSpPr>
          <p:nvPr>
            <p:ph type="dt" sz="half" idx="10"/>
          </p:nvPr>
        </p:nvSpPr>
        <p:spPr/>
        <p:txBody>
          <a:bodyPr/>
          <a:lstStyle/>
          <a:p>
            <a:fld id="{5D6495F3-B757-4FAF-98AA-EDA7D1485485}" type="datetimeFigureOut">
              <a:rPr lang="en-US" smtClean="0"/>
              <a:t>10/18/2026</a:t>
            </a:fld>
            <a:endParaRPr lang="en-US"/>
          </a:p>
        </p:txBody>
      </p:sp>
      <p:sp>
        <p:nvSpPr>
          <p:cNvPr id="5" name="Footer Placeholder 4">
            <a:extLst>
              <a:ext uri="{FF2B5EF4-FFF2-40B4-BE49-F238E27FC236}">
                <a16:creationId xmlns:a16="http://schemas.microsoft.com/office/drawing/2014/main" id="{DCF05BE2-6C23-4CB4-A63E-457E635BF26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C097965-24FE-4C07-BE16-69AE439950EF}"/>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2757682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33394D-04EF-440C-B08B-114464B315C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BEBE3F6-F021-4D6B-8B0D-EF74D7461F9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196233C-6806-4593-91C0-CF4ECD84A601}"/>
              </a:ext>
            </a:extLst>
          </p:cNvPr>
          <p:cNvSpPr>
            <a:spLocks noGrp="1"/>
          </p:cNvSpPr>
          <p:nvPr>
            <p:ph type="dt" sz="half" idx="10"/>
          </p:nvPr>
        </p:nvSpPr>
        <p:spPr/>
        <p:txBody>
          <a:bodyPr/>
          <a:lstStyle/>
          <a:p>
            <a:fld id="{5D6495F3-B757-4FAF-98AA-EDA7D1485485}" type="datetimeFigureOut">
              <a:rPr lang="en-US" smtClean="0"/>
              <a:t>10/18/2026</a:t>
            </a:fld>
            <a:endParaRPr lang="en-US"/>
          </a:p>
        </p:txBody>
      </p:sp>
      <p:sp>
        <p:nvSpPr>
          <p:cNvPr id="5" name="Footer Placeholder 4">
            <a:extLst>
              <a:ext uri="{FF2B5EF4-FFF2-40B4-BE49-F238E27FC236}">
                <a16:creationId xmlns:a16="http://schemas.microsoft.com/office/drawing/2014/main" id="{963A761E-2D3A-4397-A82C-2F3B981DE04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297E71-B59F-4260-B01B-2B7CEB0896BD}"/>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6393263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94DFCB-DD40-4637-9CAB-2BAF24231C7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394065F-4B44-4622-98EE-166F936489F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7AF1249-B890-4466-9E24-84A24907008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50FA9B4-D282-452F-B78A-FF5873ACF45A}"/>
              </a:ext>
            </a:extLst>
          </p:cNvPr>
          <p:cNvSpPr>
            <a:spLocks noGrp="1"/>
          </p:cNvSpPr>
          <p:nvPr>
            <p:ph type="dt" sz="half" idx="10"/>
          </p:nvPr>
        </p:nvSpPr>
        <p:spPr/>
        <p:txBody>
          <a:bodyPr/>
          <a:lstStyle/>
          <a:p>
            <a:fld id="{5D6495F3-B757-4FAF-98AA-EDA7D1485485}" type="datetimeFigureOut">
              <a:rPr lang="en-US" smtClean="0"/>
              <a:t>10/18/2026</a:t>
            </a:fld>
            <a:endParaRPr lang="en-US"/>
          </a:p>
        </p:txBody>
      </p:sp>
      <p:sp>
        <p:nvSpPr>
          <p:cNvPr id="6" name="Footer Placeholder 5">
            <a:extLst>
              <a:ext uri="{FF2B5EF4-FFF2-40B4-BE49-F238E27FC236}">
                <a16:creationId xmlns:a16="http://schemas.microsoft.com/office/drawing/2014/main" id="{6E9B0F13-A139-4B66-9544-16480800F68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8791D0-EC30-4D8C-8764-475D8DB34F19}"/>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0815023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33AA7D-15D2-4D5F-B1C4-501073416DE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5E80A0E-25B9-4E8E-8B0D-201E1C56409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189B111-0CA0-47CD-9F0B-DBCBA3AE3C2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EF0E02D-3176-4B85-ACB6-721F2682742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C7D9317-BBE1-4F36-82FE-E348F6F18A9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837DDCB-69F8-49FA-A111-C8AB271389E7}"/>
              </a:ext>
            </a:extLst>
          </p:cNvPr>
          <p:cNvSpPr>
            <a:spLocks noGrp="1"/>
          </p:cNvSpPr>
          <p:nvPr>
            <p:ph type="dt" sz="half" idx="10"/>
          </p:nvPr>
        </p:nvSpPr>
        <p:spPr/>
        <p:txBody>
          <a:bodyPr/>
          <a:lstStyle/>
          <a:p>
            <a:fld id="{5D6495F3-B757-4FAF-98AA-EDA7D1485485}" type="datetimeFigureOut">
              <a:rPr lang="en-US" smtClean="0"/>
              <a:t>10/18/2026</a:t>
            </a:fld>
            <a:endParaRPr lang="en-US"/>
          </a:p>
        </p:txBody>
      </p:sp>
      <p:sp>
        <p:nvSpPr>
          <p:cNvPr id="8" name="Footer Placeholder 7">
            <a:extLst>
              <a:ext uri="{FF2B5EF4-FFF2-40B4-BE49-F238E27FC236}">
                <a16:creationId xmlns:a16="http://schemas.microsoft.com/office/drawing/2014/main" id="{4A18B0CD-1F68-412E-9232-F267114CA75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29B21FC-12CC-472D-BC38-EF413158CC5D}"/>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8941432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0F51AB-8384-4E67-914C-B39484AD233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0909660-3861-4545-BF68-9ED039B5D0F0}"/>
              </a:ext>
            </a:extLst>
          </p:cNvPr>
          <p:cNvSpPr>
            <a:spLocks noGrp="1"/>
          </p:cNvSpPr>
          <p:nvPr>
            <p:ph type="dt" sz="half" idx="10"/>
          </p:nvPr>
        </p:nvSpPr>
        <p:spPr/>
        <p:txBody>
          <a:bodyPr/>
          <a:lstStyle/>
          <a:p>
            <a:fld id="{5D6495F3-B757-4FAF-98AA-EDA7D1485485}" type="datetimeFigureOut">
              <a:rPr lang="en-US" smtClean="0"/>
              <a:t>10/18/2026</a:t>
            </a:fld>
            <a:endParaRPr lang="en-US"/>
          </a:p>
        </p:txBody>
      </p:sp>
      <p:sp>
        <p:nvSpPr>
          <p:cNvPr id="4" name="Footer Placeholder 3">
            <a:extLst>
              <a:ext uri="{FF2B5EF4-FFF2-40B4-BE49-F238E27FC236}">
                <a16:creationId xmlns:a16="http://schemas.microsoft.com/office/drawing/2014/main" id="{FDDD5392-AC3A-4EAF-ADE6-B6CF4B50ACA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5679880-BF48-4F4D-B8B3-4E99FC415FF9}"/>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3514890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7F98E25-CF37-4F73-9E22-210238167867}"/>
              </a:ext>
            </a:extLst>
          </p:cNvPr>
          <p:cNvSpPr>
            <a:spLocks noGrp="1"/>
          </p:cNvSpPr>
          <p:nvPr>
            <p:ph type="dt" sz="half" idx="10"/>
          </p:nvPr>
        </p:nvSpPr>
        <p:spPr/>
        <p:txBody>
          <a:bodyPr/>
          <a:lstStyle/>
          <a:p>
            <a:fld id="{5D6495F3-B757-4FAF-98AA-EDA7D1485485}" type="datetimeFigureOut">
              <a:rPr lang="en-US" smtClean="0"/>
              <a:t>10/18/2026</a:t>
            </a:fld>
            <a:endParaRPr lang="en-US"/>
          </a:p>
        </p:txBody>
      </p:sp>
      <p:sp>
        <p:nvSpPr>
          <p:cNvPr id="3" name="Footer Placeholder 2">
            <a:extLst>
              <a:ext uri="{FF2B5EF4-FFF2-40B4-BE49-F238E27FC236}">
                <a16:creationId xmlns:a16="http://schemas.microsoft.com/office/drawing/2014/main" id="{89D7A0E1-38AB-4FDA-8EC1-2D7617909C1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8A8E424-5A91-4557-9ADF-4A9422A0690D}"/>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4978027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6BB935-0427-44CC-A384-333EAD83175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CB9DCF6-55CF-43EE-B135-BFC4B4D403C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337538E-A112-4E8F-A445-1A06B0C3530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30D413-9505-4ED8-BFF1-5141BE9EE3C4}"/>
              </a:ext>
            </a:extLst>
          </p:cNvPr>
          <p:cNvSpPr>
            <a:spLocks noGrp="1"/>
          </p:cNvSpPr>
          <p:nvPr>
            <p:ph type="dt" sz="half" idx="10"/>
          </p:nvPr>
        </p:nvSpPr>
        <p:spPr/>
        <p:txBody>
          <a:bodyPr/>
          <a:lstStyle/>
          <a:p>
            <a:fld id="{5D6495F3-B757-4FAF-98AA-EDA7D1485485}" type="datetimeFigureOut">
              <a:rPr lang="en-US" smtClean="0"/>
              <a:t>10/18/2026</a:t>
            </a:fld>
            <a:endParaRPr lang="en-US"/>
          </a:p>
        </p:txBody>
      </p:sp>
      <p:sp>
        <p:nvSpPr>
          <p:cNvPr id="6" name="Footer Placeholder 5">
            <a:extLst>
              <a:ext uri="{FF2B5EF4-FFF2-40B4-BE49-F238E27FC236}">
                <a16:creationId xmlns:a16="http://schemas.microsoft.com/office/drawing/2014/main" id="{F60815B0-4528-4FA2-8472-8F19C0F1650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5C9FCEF-4406-4552-BFE4-6DA3761357F2}"/>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37540635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CE22C-69D4-49EC-8858-787B3C67B0D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46A4341-3C0B-4025-AE17-8F0F8FABF5D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DEF5FF01-E0B6-419C-ABCC-70844E4EACB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501218-FFD7-4F25-B220-F5DE5F70693C}"/>
              </a:ext>
            </a:extLst>
          </p:cNvPr>
          <p:cNvSpPr>
            <a:spLocks noGrp="1"/>
          </p:cNvSpPr>
          <p:nvPr>
            <p:ph type="dt" sz="half" idx="10"/>
          </p:nvPr>
        </p:nvSpPr>
        <p:spPr/>
        <p:txBody>
          <a:bodyPr/>
          <a:lstStyle/>
          <a:p>
            <a:fld id="{5D6495F3-B757-4FAF-98AA-EDA7D1485485}" type="datetimeFigureOut">
              <a:rPr lang="en-US" smtClean="0"/>
              <a:t>10/18/2026</a:t>
            </a:fld>
            <a:endParaRPr lang="en-US"/>
          </a:p>
        </p:txBody>
      </p:sp>
      <p:sp>
        <p:nvSpPr>
          <p:cNvPr id="6" name="Footer Placeholder 5">
            <a:extLst>
              <a:ext uri="{FF2B5EF4-FFF2-40B4-BE49-F238E27FC236}">
                <a16:creationId xmlns:a16="http://schemas.microsoft.com/office/drawing/2014/main" id="{9687CBFB-34A6-49D8-A1D2-45DF38876EE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C2726A4-D33A-486A-B120-648AF3D8BA76}"/>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26447433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3B8678-553E-4A5B-8CFE-5DB358BDF35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43AF303-1F73-4575-83E6-561589F1632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436EC56-7DCF-400D-A871-C26291EB10AD}"/>
              </a:ext>
            </a:extLst>
          </p:cNvPr>
          <p:cNvSpPr>
            <a:spLocks noGrp="1"/>
          </p:cNvSpPr>
          <p:nvPr>
            <p:ph type="dt" sz="half" idx="10"/>
          </p:nvPr>
        </p:nvSpPr>
        <p:spPr/>
        <p:txBody>
          <a:bodyPr/>
          <a:lstStyle/>
          <a:p>
            <a:fld id="{5D6495F3-B757-4FAF-98AA-EDA7D1485485}" type="datetimeFigureOut">
              <a:rPr lang="en-US" smtClean="0"/>
              <a:t>10/18/2026</a:t>
            </a:fld>
            <a:endParaRPr lang="en-US"/>
          </a:p>
        </p:txBody>
      </p:sp>
      <p:sp>
        <p:nvSpPr>
          <p:cNvPr id="5" name="Footer Placeholder 4">
            <a:extLst>
              <a:ext uri="{FF2B5EF4-FFF2-40B4-BE49-F238E27FC236}">
                <a16:creationId xmlns:a16="http://schemas.microsoft.com/office/drawing/2014/main" id="{17FFAC5B-7C77-4F8C-ADB0-8D208A2EB30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D2F48AF-AB8F-4DD2-BC77-7E2F42AD3B87}"/>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31873178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20ED820-BFE6-41B5-8064-984037A999A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CA27FEA-5359-474A-B4F8-FF510DD7489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14DD33D-563C-4B8C-B8C1-625FF5C5B85D}"/>
              </a:ext>
            </a:extLst>
          </p:cNvPr>
          <p:cNvSpPr>
            <a:spLocks noGrp="1"/>
          </p:cNvSpPr>
          <p:nvPr>
            <p:ph type="dt" sz="half" idx="10"/>
          </p:nvPr>
        </p:nvSpPr>
        <p:spPr/>
        <p:txBody>
          <a:bodyPr/>
          <a:lstStyle/>
          <a:p>
            <a:fld id="{5D6495F3-B757-4FAF-98AA-EDA7D1485485}" type="datetimeFigureOut">
              <a:rPr lang="en-US" smtClean="0"/>
              <a:t>10/18/2026</a:t>
            </a:fld>
            <a:endParaRPr lang="en-US"/>
          </a:p>
        </p:txBody>
      </p:sp>
      <p:sp>
        <p:nvSpPr>
          <p:cNvPr id="5" name="Footer Placeholder 4">
            <a:extLst>
              <a:ext uri="{FF2B5EF4-FFF2-40B4-BE49-F238E27FC236}">
                <a16:creationId xmlns:a16="http://schemas.microsoft.com/office/drawing/2014/main" id="{40471877-89FD-46BE-832F-C5660A5567D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6E675F-CC4D-48CF-90C8-53829EE08B8C}"/>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24546216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C07C8C3-4165-4353-ABF2-492454AF91E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89AA46A-3C66-4E4A-9907-225E50ABB7A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57F8214-A11A-4309-9D51-44F35987D1B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D6495F3-B757-4FAF-98AA-EDA7D1485485}" type="datetimeFigureOut">
              <a:rPr lang="en-US" smtClean="0"/>
              <a:t>10/18/2026</a:t>
            </a:fld>
            <a:endParaRPr lang="en-US"/>
          </a:p>
        </p:txBody>
      </p:sp>
      <p:sp>
        <p:nvSpPr>
          <p:cNvPr id="5" name="Footer Placeholder 4">
            <a:extLst>
              <a:ext uri="{FF2B5EF4-FFF2-40B4-BE49-F238E27FC236}">
                <a16:creationId xmlns:a16="http://schemas.microsoft.com/office/drawing/2014/main" id="{D6A334EB-8260-4F13-9553-5A8593D9DC6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0C1EF96-E028-4E68-864E-9B77CF9F25E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E1939C1-24D7-49E9-A58A-7960365209F5}" type="slidenum">
              <a:rPr lang="en-US" smtClean="0"/>
              <a:t>‹#›</a:t>
            </a:fld>
            <a:endParaRPr lang="en-US"/>
          </a:p>
        </p:txBody>
      </p:sp>
    </p:spTree>
    <p:extLst>
      <p:ext uri="{BB962C8B-B14F-4D97-AF65-F5344CB8AC3E}">
        <p14:creationId xmlns:p14="http://schemas.microsoft.com/office/powerpoint/2010/main" val="18259450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3.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4.xml"/><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5.xml"/><Relationship Id="rId5" Type="http://schemas.openxmlformats.org/officeDocument/2006/relationships/image" Target="../media/image4.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6.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7.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23962611-DFD5-4092-AAFD-559E3DFCE2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5488" y="0"/>
            <a:ext cx="10910292"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2270F1FA-0425-408F-9861-80BF5AFB276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3045368" y="2043663"/>
            <a:ext cx="6105194" cy="2031055"/>
          </a:xfrm>
        </p:spPr>
        <p:txBody>
          <a:bodyPr>
            <a:normAutofit/>
          </a:bodyPr>
          <a:lstStyle/>
          <a:p>
            <a:r>
              <a:rPr lang="en-US" dirty="0" err="1">
                <a:solidFill>
                  <a:srgbClr val="FFFFFF"/>
                </a:solidFill>
              </a:rPr>
              <a:t>DriverPass</a:t>
            </a:r>
            <a:br>
              <a:rPr lang="en-US" dirty="0">
                <a:solidFill>
                  <a:srgbClr val="FFFFFF"/>
                </a:solidFill>
              </a:rPr>
            </a:br>
            <a:r>
              <a:rPr lang="en-US" dirty="0">
                <a:solidFill>
                  <a:srgbClr val="FFFFFF"/>
                </a:solidFill>
              </a:rPr>
              <a:t>System Analysis</a:t>
            </a:r>
          </a:p>
        </p:txBody>
      </p:sp>
      <p:sp>
        <p:nvSpPr>
          <p:cNvPr id="3" name="Content Placeholder 2"/>
          <p:cNvSpPr>
            <a:spLocks noGrp="1"/>
          </p:cNvSpPr>
          <p:nvPr>
            <p:ph type="subTitle" idx="1"/>
          </p:nvPr>
        </p:nvSpPr>
        <p:spPr>
          <a:xfrm>
            <a:off x="3045368" y="4074718"/>
            <a:ext cx="6105194" cy="682079"/>
          </a:xfrm>
        </p:spPr>
        <p:txBody>
          <a:bodyPr>
            <a:normAutofit/>
          </a:bodyPr>
          <a:lstStyle/>
          <a:p>
            <a:r>
              <a:rPr lang="en-US" dirty="0">
                <a:solidFill>
                  <a:srgbClr val="FFFFFF"/>
                </a:solidFill>
              </a:rPr>
              <a:t>Cayden Clark</a:t>
            </a:r>
            <a:endParaRPr dirty="0">
              <a:solidFill>
                <a:srgbClr val="FFFFFF"/>
              </a:solidFill>
            </a:endParaRPr>
          </a:p>
        </p:txBody>
      </p:sp>
    </p:spTree>
    <p:custDataLst>
      <p:tags r:id="rId1"/>
    </p:custDataLst>
    <p:extLst>
      <p:ext uri="{BB962C8B-B14F-4D97-AF65-F5344CB8AC3E}">
        <p14:creationId xmlns:p14="http://schemas.microsoft.com/office/powerpoint/2010/main" val="4091820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System Requirements</a:t>
            </a:r>
          </a:p>
        </p:txBody>
      </p:sp>
      <p:sp>
        <p:nvSpPr>
          <p:cNvPr id="3" name="Content Placeholder 2"/>
          <p:cNvSpPr>
            <a:spLocks noGrp="1"/>
          </p:cNvSpPr>
          <p:nvPr>
            <p:ph idx="1"/>
          </p:nvPr>
        </p:nvSpPr>
        <p:spPr>
          <a:xfrm>
            <a:off x="6090574" y="801866"/>
            <a:ext cx="5306084" cy="5230634"/>
          </a:xfrm>
        </p:spPr>
        <p:txBody>
          <a:bodyPr anchor="ctr">
            <a:normAutofit/>
          </a:bodyPr>
          <a:lstStyle/>
          <a:p>
            <a:pPr lvl="0"/>
            <a:r>
              <a:rPr lang="en-US" b="1" dirty="0"/>
              <a:t>Functional Requirements:</a:t>
            </a:r>
            <a:endParaRPr lang="en-US" dirty="0"/>
          </a:p>
          <a:p>
            <a:pPr lvl="1"/>
            <a:r>
              <a:rPr lang="en-US" dirty="0"/>
              <a:t>Students can book, reschedule, or cancel driving lessons online.</a:t>
            </a:r>
          </a:p>
          <a:p>
            <a:pPr lvl="1"/>
            <a:r>
              <a:rPr lang="en-US" dirty="0"/>
              <a:t>Instructors can view their daily schedule and log completed lesson notes.</a:t>
            </a:r>
          </a:p>
          <a:p>
            <a:pPr lvl="0"/>
            <a:r>
              <a:rPr lang="en-US" b="1" dirty="0"/>
              <a:t>Nonfunctional Requirements:</a:t>
            </a:r>
            <a:endParaRPr lang="en-US" dirty="0"/>
          </a:p>
          <a:p>
            <a:pPr lvl="1"/>
            <a:r>
              <a:rPr lang="en-US" b="1" dirty="0"/>
              <a:t>Security:</a:t>
            </a:r>
            <a:r>
              <a:rPr lang="en-US" dirty="0"/>
              <a:t> Passenger and payment data must be fully encrypted.</a:t>
            </a:r>
          </a:p>
          <a:p>
            <a:pPr lvl="1"/>
            <a:r>
              <a:rPr lang="en-US" b="1" dirty="0"/>
              <a:t>Performance:</a:t>
            </a:r>
            <a:r>
              <a:rPr lang="en-US" dirty="0"/>
              <a:t> The scheduling page must load in under 2 seconds during peak hours.</a:t>
            </a:r>
          </a:p>
        </p:txBody>
      </p:sp>
    </p:spTree>
    <p:custDataLst>
      <p:tags r:id="rId1"/>
    </p:custDataLst>
    <p:extLst>
      <p:ext uri="{BB962C8B-B14F-4D97-AF65-F5344CB8AC3E}">
        <p14:creationId xmlns:p14="http://schemas.microsoft.com/office/powerpoint/2010/main" val="18658859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Use Case Diagram</a:t>
            </a:r>
          </a:p>
        </p:txBody>
      </p:sp>
      <p:sp>
        <p:nvSpPr>
          <p:cNvPr id="3" name="Content Placeholder 2"/>
          <p:cNvSpPr>
            <a:spLocks noGrp="1"/>
          </p:cNvSpPr>
          <p:nvPr>
            <p:ph idx="1"/>
          </p:nvPr>
        </p:nvSpPr>
        <p:spPr>
          <a:xfrm>
            <a:off x="6090574" y="801866"/>
            <a:ext cx="5306084" cy="5230634"/>
          </a:xfrm>
        </p:spPr>
        <p:txBody>
          <a:bodyPr anchor="ctr">
            <a:normAutofit/>
          </a:bodyPr>
          <a:lstStyle/>
          <a:p>
            <a:pPr marL="0" indent="0">
              <a:buNone/>
            </a:pPr>
            <a:r>
              <a:rPr lang="en-US" sz="2400" dirty="0">
                <a:solidFill>
                  <a:srgbClr val="000000"/>
                </a:solidFill>
              </a:rPr>
              <a:t>[Insert your use case diagram here.]</a:t>
            </a:r>
            <a:endParaRPr sz="2400" dirty="0">
              <a:solidFill>
                <a:srgbClr val="000000"/>
              </a:solidFill>
            </a:endParaRPr>
          </a:p>
        </p:txBody>
      </p:sp>
      <p:pic>
        <p:nvPicPr>
          <p:cNvPr id="5" name="Picture 4">
            <a:extLst>
              <a:ext uri="{FF2B5EF4-FFF2-40B4-BE49-F238E27FC236}">
                <a16:creationId xmlns:a16="http://schemas.microsoft.com/office/drawing/2014/main" id="{2A0B19B4-9F25-C38F-4B98-E2C807F6DEA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144198" y="476980"/>
            <a:ext cx="6082110" cy="6381020"/>
          </a:xfrm>
          <a:prstGeom prst="rect">
            <a:avLst/>
          </a:prstGeom>
        </p:spPr>
      </p:pic>
    </p:spTree>
    <p:custDataLst>
      <p:tags r:id="rId1"/>
    </p:custDataLst>
    <p:extLst>
      <p:ext uri="{BB962C8B-B14F-4D97-AF65-F5344CB8AC3E}">
        <p14:creationId xmlns:p14="http://schemas.microsoft.com/office/powerpoint/2010/main" val="27764253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Activity</a:t>
            </a:r>
            <a:br>
              <a:rPr lang="en-US" dirty="0">
                <a:solidFill>
                  <a:schemeClr val="bg1"/>
                </a:solidFill>
              </a:rPr>
            </a:br>
            <a:r>
              <a:rPr lang="en-US" dirty="0">
                <a:solidFill>
                  <a:schemeClr val="bg1"/>
                </a:solidFill>
              </a:rPr>
              <a:t>Diagram</a:t>
            </a:r>
          </a:p>
        </p:txBody>
      </p:sp>
      <p:pic>
        <p:nvPicPr>
          <p:cNvPr id="14" name="Content Placeholder 13">
            <a:extLst>
              <a:ext uri="{FF2B5EF4-FFF2-40B4-BE49-F238E27FC236}">
                <a16:creationId xmlns:a16="http://schemas.microsoft.com/office/drawing/2014/main" id="{31650A89-621C-E45F-78C5-813837800D27}"/>
              </a:ext>
            </a:extLst>
          </p:cNvPr>
          <p:cNvPicPr>
            <a:picLocks noGrp="1" noChangeAspect="1"/>
          </p:cNvPicPr>
          <p:nvPr>
            <p:ph idx="1"/>
          </p:nvPr>
        </p:nvPicPr>
        <p:blipFill>
          <a:blip r:embed="rId5">
            <a:extLst>
              <a:ext uri="{28A0092B-C50C-407E-A947-70E740481C1C}">
                <a14:useLocalDpi xmlns:a14="http://schemas.microsoft.com/office/drawing/2010/main" val="0"/>
              </a:ext>
            </a:extLst>
          </a:blip>
          <a:stretch>
            <a:fillRect/>
          </a:stretch>
        </p:blipFill>
        <p:spPr>
          <a:xfrm>
            <a:off x="5541819" y="114895"/>
            <a:ext cx="6650180" cy="6857999"/>
          </a:xfrm>
          <a:prstGeom prst="rect">
            <a:avLst/>
          </a:prstGeom>
        </p:spPr>
      </p:pic>
    </p:spTree>
    <p:custDataLst>
      <p:tags r:id="rId1"/>
    </p:custDataLst>
    <p:extLst>
      <p:ext uri="{BB962C8B-B14F-4D97-AF65-F5344CB8AC3E}">
        <p14:creationId xmlns:p14="http://schemas.microsoft.com/office/powerpoint/2010/main" val="35640556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Security</a:t>
            </a:r>
          </a:p>
        </p:txBody>
      </p:sp>
      <p:sp>
        <p:nvSpPr>
          <p:cNvPr id="3" name="Content Placeholder 2"/>
          <p:cNvSpPr>
            <a:spLocks noGrp="1"/>
          </p:cNvSpPr>
          <p:nvPr>
            <p:ph idx="1"/>
          </p:nvPr>
        </p:nvSpPr>
        <p:spPr>
          <a:xfrm>
            <a:off x="6090574" y="801866"/>
            <a:ext cx="5306084" cy="5230634"/>
          </a:xfrm>
        </p:spPr>
        <p:txBody>
          <a:bodyPr anchor="ctr">
            <a:normAutofit/>
          </a:bodyPr>
          <a:lstStyle/>
          <a:p>
            <a:pPr lvl="0"/>
            <a:r>
              <a:rPr lang="en-US" b="1" dirty="0"/>
              <a:t>Data Protection:</a:t>
            </a:r>
            <a:r>
              <a:rPr lang="en-US" dirty="0"/>
              <a:t> Keeps personal student profiles and contact details safely hidden.</a:t>
            </a:r>
          </a:p>
          <a:p>
            <a:pPr lvl="0"/>
            <a:r>
              <a:rPr lang="en-US" b="1" dirty="0"/>
              <a:t>Secure Logins:</a:t>
            </a:r>
            <a:r>
              <a:rPr lang="en-US" dirty="0"/>
              <a:t> Password protection for staff, instructors, and customers.</a:t>
            </a:r>
          </a:p>
          <a:p>
            <a:pPr lvl="0"/>
            <a:r>
              <a:rPr lang="en-US" b="1" dirty="0"/>
              <a:t>Payment Safety:</a:t>
            </a:r>
            <a:r>
              <a:rPr lang="en-US" dirty="0"/>
              <a:t> Safe handling of credit cards and transactions through secure digital locks.</a:t>
            </a:r>
          </a:p>
          <a:p>
            <a:pPr lvl="0"/>
            <a:r>
              <a:rPr lang="en-US" b="1" dirty="0"/>
              <a:t>Role-Based Access:</a:t>
            </a:r>
            <a:r>
              <a:rPr lang="en-US" dirty="0"/>
              <a:t> Instructors and students only see their own information to keep files private.</a:t>
            </a:r>
          </a:p>
        </p:txBody>
      </p:sp>
    </p:spTree>
    <p:custDataLst>
      <p:tags r:id="rId1"/>
    </p:custDataLst>
    <p:extLst>
      <p:ext uri="{BB962C8B-B14F-4D97-AF65-F5344CB8AC3E}">
        <p14:creationId xmlns:p14="http://schemas.microsoft.com/office/powerpoint/2010/main" val="3768431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System Limitations</a:t>
            </a:r>
          </a:p>
        </p:txBody>
      </p:sp>
      <p:sp>
        <p:nvSpPr>
          <p:cNvPr id="3" name="Content Placeholder 2"/>
          <p:cNvSpPr>
            <a:spLocks noGrp="1"/>
          </p:cNvSpPr>
          <p:nvPr>
            <p:ph type="body" idx="1"/>
          </p:nvPr>
        </p:nvSpPr>
        <p:spPr>
          <a:xfrm>
            <a:off x="6090574" y="801866"/>
            <a:ext cx="5306084" cy="5230634"/>
          </a:xfrm>
        </p:spPr>
        <p:txBody>
          <a:bodyPr anchor="ctr">
            <a:normAutofit/>
          </a:bodyPr>
          <a:lstStyle/>
          <a:p>
            <a:pPr lvl="0"/>
            <a:r>
              <a:rPr lang="en-US" b="1" dirty="0"/>
              <a:t>Internet Access Required:</a:t>
            </a:r>
            <a:r>
              <a:rPr lang="en-US" dirty="0"/>
              <a:t> Users need an active internet connection to view or update schedules.</a:t>
            </a:r>
          </a:p>
          <a:p>
            <a:pPr lvl="0"/>
            <a:r>
              <a:rPr lang="en-US" b="1" dirty="0"/>
              <a:t>No Live Traffic Updates:</a:t>
            </a:r>
            <a:r>
              <a:rPr lang="en-US" dirty="0"/>
              <a:t> Instructors can view route maps, but the system does not show live traffic delays.</a:t>
            </a:r>
          </a:p>
          <a:p>
            <a:pPr lvl="0"/>
            <a:r>
              <a:rPr lang="en-US" b="1" dirty="0"/>
              <a:t>Manual Vehicle Tracking:</a:t>
            </a:r>
            <a:r>
              <a:rPr lang="en-US" dirty="0"/>
              <a:t> The system tracks calendars, but it does not monitor car maintenance or fuel levels.</a:t>
            </a:r>
          </a:p>
        </p:txBody>
      </p:sp>
    </p:spTree>
    <p:custDataLst>
      <p:tags r:id="rId1"/>
    </p:custDataLst>
    <p:extLst>
      <p:ext uri="{BB962C8B-B14F-4D97-AF65-F5344CB8AC3E}">
        <p14:creationId xmlns:p14="http://schemas.microsoft.com/office/powerpoint/2010/main" val="322514164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6"/>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WebD281</Template>
  <TotalTime>1568</TotalTime>
  <Words>782</Words>
  <Application>Microsoft Office PowerPoint</Application>
  <PresentationFormat>Widescreen</PresentationFormat>
  <Paragraphs>33</Paragraphs>
  <Slides>6</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Calibri</vt:lpstr>
      <vt:lpstr>Calibri Light</vt:lpstr>
      <vt:lpstr>Office Theme</vt:lpstr>
      <vt:lpstr>DriverPass System Analysis</vt:lpstr>
      <vt:lpstr>System Requirements</vt:lpstr>
      <vt:lpstr>Use Case Diagram</vt:lpstr>
      <vt:lpstr>Activity Diagram</vt:lpstr>
      <vt:lpstr>Security</vt:lpstr>
      <vt:lpstr>System Limitations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Systems Analysis</dc:title>
  <dc:creator>Loay Alnaji</dc:creator>
  <cp:lastModifiedBy>Cayden Clark</cp:lastModifiedBy>
  <cp:revision>21</cp:revision>
  <dcterms:created xsi:type="dcterms:W3CDTF">2019-10-14T02:36:52Z</dcterms:created>
  <dcterms:modified xsi:type="dcterms:W3CDTF">2026-10-19T00:51:51Z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17B2C008-CF5F-4D7E-BF2C-A283A0269B28</vt:lpwstr>
  </property>
  <property fmtid="{D5CDD505-2E9C-101B-9397-08002B2CF9AE}" pid="3" name="ArticulatePath">
    <vt:lpwstr>CS 255 Client Presentation Template</vt:lpwstr>
  </property>
</Properties>
</file>